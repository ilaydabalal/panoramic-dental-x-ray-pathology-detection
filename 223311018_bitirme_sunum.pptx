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55" r:id="rId1"/>
  </p:sldMasterIdLst>
  <p:notesMasterIdLst>
    <p:notesMasterId r:id="rId13"/>
  </p:notesMasterIdLst>
  <p:handoutMasterIdLst>
    <p:handoutMasterId r:id="rId14"/>
  </p:handoutMasterIdLst>
  <p:sldIdLst>
    <p:sldId id="256" r:id="rId2"/>
    <p:sldId id="439" r:id="rId3"/>
    <p:sldId id="418" r:id="rId4"/>
    <p:sldId id="444" r:id="rId5"/>
    <p:sldId id="422" r:id="rId6"/>
    <p:sldId id="440" r:id="rId7"/>
    <p:sldId id="441" r:id="rId8"/>
    <p:sldId id="445" r:id="rId9"/>
    <p:sldId id="419" r:id="rId10"/>
    <p:sldId id="442" r:id="rId11"/>
    <p:sldId id="401" r:id="rId12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üleyha Yılmaz" initials="ZY" lastIdx="2" clrIdx="0">
    <p:extLst>
      <p:ext uri="{19B8F6BF-5375-455C-9EA6-DF929625EA0E}">
        <p15:presenceInfo xmlns:p15="http://schemas.microsoft.com/office/powerpoint/2012/main" userId="bd933f2ac9780f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CC14"/>
    <a:srgbClr val="00234A"/>
    <a:srgbClr val="BBE3FA"/>
    <a:srgbClr val="B76000"/>
    <a:srgbClr val="B94848"/>
    <a:srgbClr val="F2D7B1"/>
    <a:srgbClr val="281EFA"/>
    <a:srgbClr val="B8A5FF"/>
    <a:srgbClr val="0000FF"/>
    <a:srgbClr val="AD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ABFCF23-3B69-468F-B69F-88F6DE6A72F2}" styleName="Orta Stil 1 - Vurgu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Orta Stil 4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Orta Stil 3 - Vurgu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Açık Stil 3 - Vurgu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Orta Stil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Orta Stil 1 - Vurgu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3878" autoAdjust="0"/>
  </p:normalViewPr>
  <p:slideViewPr>
    <p:cSldViewPr snapToGrid="0">
      <p:cViewPr varScale="1">
        <p:scale>
          <a:sx n="83" d="100"/>
          <a:sy n="83" d="100"/>
        </p:scale>
        <p:origin x="100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6820EC53-40A7-49F0-B6A6-617F1EDB2B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0ACEE36-9EB3-4444-B50B-61B32BEBB6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1A01E-85C4-4620-9ABC-01F095866B4A}" type="datetimeFigureOut">
              <a:rPr lang="tr-TR" smtClean="0"/>
              <a:t>19.01.2026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66BB19A-D74B-486F-8F1D-2744078B95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353889D-AA8A-4D54-BBBC-31B256046A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D47B1-97E0-4973-A7CD-325D926C48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10435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2C0D7-40E7-4EF3-A5F5-4E439C456BDC}" type="datetimeFigureOut">
              <a:rPr lang="tr-TR" smtClean="0"/>
              <a:t>19.01.2026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40E96-966A-4767-9A41-0B33EFC37FE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56670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5B4D3-2163-4719-A622-B4FA80AD4210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30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24E30-90A1-4AA2-9185-FDBC67727CD8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7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01BF-ABDD-4AF2-BB40-A27407734071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BE6D4-D6AF-4726-A9C3-F423F21C88A9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0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D34D-D8E3-475C-BD2A-3C47952FF234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0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DCCF4-E217-402B-BA8C-33DD8CB0224A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69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C469B-456C-4EEB-A920-EE135CD1CD9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2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B48D-AA94-41C1-B777-1E726F73FC65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7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4911-A6E5-4A84-9EFB-A49CBA6F9DE5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0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3D80-D753-4CDD-A37F-122A7C4E5816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1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227C9-5435-4A25-BCA8-A7650166233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211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D6D4-1441-476F-8DAB-AAA17FA31C7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269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2953E-8EE8-4E7D-A9F5-FE12E33E6220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81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22F76-6735-463B-ACBB-B6714DC3685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763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C5FE9-CC23-4A09-A7B9-55CA70654D75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89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8544-3FAC-4AF8-B1EE-6B12DA6711F5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286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1FDD4-6553-424B-A996-06BB3A9CA4DF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0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5B47A-42A1-468D-AE02-C8F0AB97CA56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100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56" r:id="rId1"/>
    <p:sldLayoutId id="2147484357" r:id="rId2"/>
    <p:sldLayoutId id="2147484358" r:id="rId3"/>
    <p:sldLayoutId id="2147484359" r:id="rId4"/>
    <p:sldLayoutId id="2147484360" r:id="rId5"/>
    <p:sldLayoutId id="2147484361" r:id="rId6"/>
    <p:sldLayoutId id="2147484362" r:id="rId7"/>
    <p:sldLayoutId id="2147484363" r:id="rId8"/>
    <p:sldLayoutId id="2147484364" r:id="rId9"/>
    <p:sldLayoutId id="2147484365" r:id="rId10"/>
    <p:sldLayoutId id="2147484366" r:id="rId11"/>
    <p:sldLayoutId id="2147484367" r:id="rId12"/>
    <p:sldLayoutId id="2147484368" r:id="rId13"/>
    <p:sldLayoutId id="2147484369" r:id="rId14"/>
    <p:sldLayoutId id="2147484370" r:id="rId15"/>
    <p:sldLayoutId id="2147484371" r:id="rId16"/>
    <p:sldLayoutId id="2147484372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74" y="4544008"/>
            <a:ext cx="12040178" cy="150581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tr-TR" sz="2400" b="1" dirty="0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İlayda BALAL 223311018</a:t>
            </a:r>
            <a:endParaRPr lang="tr-TR" b="1" dirty="0">
              <a:solidFill>
                <a:srgbClr val="000000"/>
              </a:solidFill>
              <a:effectLst/>
              <a:latin typeface="+mj-lt"/>
              <a:ea typeface="Cambria" panose="0204050305040603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GB" sz="2400" b="1" dirty="0" err="1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Bilgisayar</a:t>
            </a:r>
            <a:r>
              <a:rPr lang="en-GB" sz="2400" b="1" dirty="0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 </a:t>
            </a:r>
            <a:r>
              <a:rPr lang="en-GB" sz="2400" b="1" dirty="0" err="1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Mühendisliği</a:t>
            </a:r>
            <a:r>
              <a:rPr lang="en-GB" sz="2400" b="1" dirty="0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 </a:t>
            </a:r>
            <a:r>
              <a:rPr lang="en-GB" sz="2400" b="1" dirty="0" err="1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</a:rPr>
              <a:t>Uygulamaları</a:t>
            </a:r>
            <a:endParaRPr lang="tr-TR" sz="2400" b="1" dirty="0">
              <a:solidFill>
                <a:srgbClr val="000000"/>
              </a:solidFill>
              <a:effectLst/>
              <a:latin typeface="+mj-lt"/>
              <a:ea typeface="Cambria" panose="020405030504060302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tr-T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 panose="02020603050405020304" pitchFamily="18" charset="0"/>
              </a:rPr>
              <a:t>Dr. Öğr. Üyesi Ali ÇETİNKAYA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CDDD2B-7399-4306-BF49-56AC491FC3B2}"/>
              </a:ext>
            </a:extLst>
          </p:cNvPr>
          <p:cNvSpPr txBox="1">
            <a:spLocks/>
          </p:cNvSpPr>
          <p:nvPr/>
        </p:nvSpPr>
        <p:spPr>
          <a:xfrm>
            <a:off x="2427181" y="364451"/>
            <a:ext cx="7382763" cy="15170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6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T.C.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SELÇUK ÜNİVERSİTESİ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TEKNOLOJİ FAKÜLTESİ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BİLGİSAYAR MÜHENDİSLİĞİ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88712B-D550-44B0-80E9-9146ABE328A1}"/>
              </a:ext>
            </a:extLst>
          </p:cNvPr>
          <p:cNvSpPr txBox="1">
            <a:spLocks/>
          </p:cNvSpPr>
          <p:nvPr/>
        </p:nvSpPr>
        <p:spPr>
          <a:xfrm>
            <a:off x="0" y="2298205"/>
            <a:ext cx="12192000" cy="2138834"/>
          </a:xfrm>
          <a:prstGeom prst="rect">
            <a:avLst/>
          </a:prstGeo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dirty="0">
                <a:solidFill>
                  <a:schemeClr val="bg1"/>
                </a:solidFill>
                <a:effectLst/>
              </a:rPr>
              <a:t>Panoramik Röntgenlerde YOLO Tabanlı Çok Sınıflı Otomatik Diş Hekimliği Patolojisi Tespit Sistemi</a:t>
            </a:r>
            <a:endParaRPr lang="tr-TR" sz="2800" dirty="0">
              <a:solidFill>
                <a:schemeClr val="bg1"/>
              </a:solidFill>
              <a:effectLst/>
              <a:ea typeface="Cambria" panose="02040503050406030204" pitchFamily="18" charset="0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0DC76F35-B5EA-4C2E-AC4E-248664791A81}"/>
              </a:ext>
            </a:extLst>
          </p:cNvPr>
          <p:cNvSpPr txBox="1"/>
          <p:nvPr/>
        </p:nvSpPr>
        <p:spPr>
          <a:xfrm>
            <a:off x="0" y="651345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algn="ctr"/>
            <a:r>
              <a:rPr lang="tr-TR" sz="1600" b="1" dirty="0">
                <a:solidFill>
                  <a:srgbClr val="00234A"/>
                </a:solidFill>
                <a:latin typeface="+mj-lt"/>
                <a:ea typeface="Cambria" panose="02040503050406030204" pitchFamily="18" charset="0"/>
              </a:rPr>
              <a:t>Konya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5A879AF-79D0-88E6-5C85-D5687D20A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7" y="499310"/>
            <a:ext cx="2658511" cy="1344667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2241E792-04AE-7944-42DD-D0B7C0362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589020"/>
            <a:ext cx="3392062" cy="121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00FF"/>
                </a:solidFill>
                <a:effectLst/>
                <a:ea typeface="Cambria" panose="02040503050406030204" pitchFamily="18" charset="0"/>
              </a:rPr>
              <a:t> </a:t>
            </a:r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İçindekiler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2/9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E2852A2-90ED-A6B9-3EAC-22188FEA8CE0}"/>
              </a:ext>
            </a:extLst>
          </p:cNvPr>
          <p:cNvSpPr txBox="1"/>
          <p:nvPr/>
        </p:nvSpPr>
        <p:spPr>
          <a:xfrm>
            <a:off x="0" y="6537962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1600" b="1" dirty="0">
                <a:solidFill>
                  <a:srgbClr val="00234A"/>
                </a:solidFill>
                <a:latin typeface="Bookman Old Style"/>
                <a:ea typeface="Cambria" panose="02040503050406030204" pitchFamily="18" charset="0"/>
              </a:rPr>
              <a:t>İlayda BALAL</a:t>
            </a:r>
          </a:p>
        </p:txBody>
      </p:sp>
      <p:sp>
        <p:nvSpPr>
          <p:cNvPr id="6" name="2 Metin kutusu">
            <a:extLst>
              <a:ext uri="{FF2B5EF4-FFF2-40B4-BE49-F238E27FC236}">
                <a16:creationId xmlns:a16="http://schemas.microsoft.com/office/drawing/2014/main" id="{80F00DF1-876F-F7B0-1690-64B2A01B1D6E}"/>
              </a:ext>
            </a:extLst>
          </p:cNvPr>
          <p:cNvSpPr txBox="1"/>
          <p:nvPr/>
        </p:nvSpPr>
        <p:spPr>
          <a:xfrm>
            <a:off x="629379" y="1716833"/>
            <a:ext cx="9540988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</a:rPr>
              <a:t> </a:t>
            </a: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okman Old Style"/>
              </a:rPr>
              <a:t>Giriş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</a:rPr>
              <a:t> Kaynak </a:t>
            </a:r>
            <a:r>
              <a:rPr lang="tr-TR" sz="2800" b="1" dirty="0">
                <a:solidFill>
                  <a:prstClr val="black"/>
                </a:solidFill>
                <a:latin typeface="Bookman Old Style"/>
              </a:rPr>
              <a:t>Araştırması</a:t>
            </a:r>
            <a:endParaRPr kumimoji="0" lang="tr-T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</a:rPr>
              <a:t> Materyal ve Yöntem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r-T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</a:rPr>
              <a:t> Araştırma Sonuçları ve Tartışma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tr-TR" sz="2800" b="1" dirty="0">
                <a:solidFill>
                  <a:prstClr val="black"/>
                </a:solidFill>
                <a:latin typeface="Bookman Old Style"/>
              </a:rPr>
              <a:t> Sonuçlar ve Öneriler</a:t>
            </a:r>
            <a:endParaRPr kumimoji="0" lang="tr-T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tr-TR" sz="2800" b="1" dirty="0">
                <a:solidFill>
                  <a:prstClr val="black"/>
                </a:solidFill>
                <a:latin typeface="Bookman Old Style"/>
              </a:rPr>
              <a:t> Kaynaklar</a:t>
            </a:r>
            <a:endParaRPr kumimoji="0" lang="tr-T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DB1413D-78E0-D4A2-1452-C510E9FAB454}"/>
              </a:ext>
            </a:extLst>
          </p:cNvPr>
          <p:cNvSpPr txBox="1"/>
          <p:nvPr/>
        </p:nvSpPr>
        <p:spPr>
          <a:xfrm>
            <a:off x="9314400" y="6537962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45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Giriş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3/9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8A99F243-5D05-1BCD-BF98-E308089B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5" y="1680195"/>
            <a:ext cx="8516470" cy="434833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Problem: Radyolojik analizlerde görsel yorgunluğa bağlı teşhis hataları.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Çözüm: YOLOv11 mimarisi ile gerçek zamanlı ve yüksek doğruluklu nesne tespiti.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Kapsam: 10 farklı dental sınıfın (İmplant, Çürük, Kanal Tedavisi vb.) otonom tespiti ve klinik karar destek arayüzü.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7F8F917-D225-4352-C791-1B423F23DF83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1600" b="1" dirty="0">
                <a:solidFill>
                  <a:srgbClr val="00234A"/>
                </a:solidFill>
                <a:latin typeface="Bookman Old Style"/>
                <a:ea typeface="Cambria" panose="02040503050406030204" pitchFamily="18" charset="0"/>
              </a:rPr>
              <a:t>İlayda BALAL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8D548669-C7D2-09A0-7E9A-971E89FBCE9E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F9B0432E-AAC8-E606-AF8C-BA053AFE39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5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455FD-3D5E-3867-A32B-8373F1A2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75E3B93-55EA-2292-8A18-EFC621B38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Giriş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60AD9D-6F50-7238-4AEC-42A329056FA9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3/9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CE17156-F814-37B8-F0A1-AFE7E5E8E1F8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1600" b="1" dirty="0">
                <a:solidFill>
                  <a:srgbClr val="00234A"/>
                </a:solidFill>
                <a:latin typeface="Bookman Old Style"/>
                <a:ea typeface="Cambria" panose="02040503050406030204" pitchFamily="18" charset="0"/>
              </a:rPr>
              <a:t>İlayda BALAL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88A534A7-CD11-FBEA-F927-682268647748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3" name="İçerik Yer Tutucusu 2">
            <a:extLst>
              <a:ext uri="{FF2B5EF4-FFF2-40B4-BE49-F238E27FC236}">
                <a16:creationId xmlns:a16="http://schemas.microsoft.com/office/drawing/2014/main" id="{61FEA88E-7E71-0C3B-6F37-F2A8B4387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61" y="1311599"/>
            <a:ext cx="10726275" cy="50932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5194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 Kaynak Araştırması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2800" dirty="0">
                <a:effectLst/>
                <a:latin typeface="Bookman Old Style"/>
                <a:ea typeface="Cambria" panose="02040503050406030204" pitchFamily="18" charset="0"/>
              </a:rPr>
              <a:t>4</a:t>
            </a: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8A99F243-5D05-1BCD-BF98-E308089B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61" y="1514168"/>
            <a:ext cx="8298714" cy="431746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Literatürde derin öğrenme ve CNN tabanlı çalışmalar (Çelik ve ark. 2024, Durmuş ve ark. 2023).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YOLO algoritmalarının nesne tespitindeki hızı ve başarısı.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Mevcut sistemin literatürdeki yeri: Çok sınıflı analiz ve web tabanlı arayüz entegrasyonu.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1CD8B07-DA0C-9C2A-92C0-13CD151DB05C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1600" b="1" dirty="0">
                <a:solidFill>
                  <a:srgbClr val="00234A"/>
                </a:solidFill>
                <a:latin typeface="Bookman Old Style"/>
                <a:ea typeface="Cambria" panose="02040503050406030204" pitchFamily="18" charset="0"/>
              </a:rPr>
              <a:t>İlayda BALAL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E6792A0-487F-0BD4-F11F-66617969C68B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CAEB1160-7EEE-A82E-6B9A-11930C7FC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74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Materyal ve Yöntem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5/9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8A99F243-5D05-1BCD-BF98-E308089B0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61" y="1514168"/>
            <a:ext cx="8298714" cy="481491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Veri Seti: 13.814 orijinal görüntü, x3 </a:t>
            </a:r>
            <a:r>
              <a:rPr lang="tr-TR" sz="2200" dirty="0" err="1">
                <a:solidFill>
                  <a:schemeClr val="bg1"/>
                </a:solidFill>
                <a:effectLst/>
              </a:rPr>
              <a:t>Augmentation</a:t>
            </a:r>
            <a:r>
              <a:rPr lang="tr-TR" sz="2200" dirty="0">
                <a:solidFill>
                  <a:schemeClr val="bg1"/>
                </a:solidFill>
                <a:effectLst/>
              </a:rPr>
              <a:t> ile toplam 41.442 görsel.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Donanım: Google </a:t>
            </a:r>
            <a:r>
              <a:rPr lang="tr-TR" sz="2200" dirty="0" err="1">
                <a:solidFill>
                  <a:schemeClr val="bg1"/>
                </a:solidFill>
                <a:effectLst/>
              </a:rPr>
              <a:t>Colab</a:t>
            </a:r>
            <a:r>
              <a:rPr lang="tr-TR" sz="2200" dirty="0">
                <a:solidFill>
                  <a:schemeClr val="bg1"/>
                </a:solidFill>
                <a:effectLst/>
              </a:rPr>
              <a:t> Pro, A100 GPU, Yüksek RAM.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Yazılım: Python, </a:t>
            </a:r>
            <a:r>
              <a:rPr lang="tr-TR" sz="2200" dirty="0" err="1">
                <a:solidFill>
                  <a:schemeClr val="bg1"/>
                </a:solidFill>
                <a:effectLst/>
              </a:rPr>
              <a:t>Ultralytics</a:t>
            </a:r>
            <a:r>
              <a:rPr lang="tr-TR" sz="2200" dirty="0">
                <a:solidFill>
                  <a:schemeClr val="bg1"/>
                </a:solidFill>
                <a:effectLst/>
              </a:rPr>
              <a:t> YOLOv11, </a:t>
            </a:r>
            <a:r>
              <a:rPr lang="tr-TR" sz="2200" dirty="0" err="1">
                <a:solidFill>
                  <a:schemeClr val="bg1"/>
                </a:solidFill>
                <a:effectLst/>
              </a:rPr>
              <a:t>Streamlit</a:t>
            </a:r>
            <a:r>
              <a:rPr lang="tr-TR" sz="2200" dirty="0">
                <a:solidFill>
                  <a:schemeClr val="bg1"/>
                </a:solidFill>
                <a:effectLst/>
              </a:rPr>
              <a:t>, </a:t>
            </a:r>
            <a:r>
              <a:rPr lang="tr-TR" sz="2200" dirty="0" err="1">
                <a:solidFill>
                  <a:schemeClr val="bg1"/>
                </a:solidFill>
                <a:effectLst/>
              </a:rPr>
              <a:t>OpenCV</a:t>
            </a:r>
            <a:r>
              <a:rPr lang="tr-TR" sz="2200" dirty="0">
                <a:solidFill>
                  <a:schemeClr val="bg1"/>
                </a:solidFill>
                <a:effectLst/>
              </a:rPr>
              <a:t>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2393BA5-A8B5-29C6-7EBC-546388990BB2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1600" b="1" dirty="0">
                <a:solidFill>
                  <a:srgbClr val="00234A"/>
                </a:solidFill>
                <a:latin typeface="Bookman Old Style"/>
                <a:ea typeface="Cambria" panose="02040503050406030204" pitchFamily="18" charset="0"/>
              </a:rPr>
              <a:t>İlayda BALAL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B528DED-BE07-D46B-132D-8BBB82876A39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F32F107B-25AA-79B1-A2D5-7A22E6439E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  <p:pic>
        <p:nvPicPr>
          <p:cNvPr id="9" name="Resim 8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380EFDA-7532-6DA3-0D18-36EB928AB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62" y="3636287"/>
            <a:ext cx="6314910" cy="278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8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Araştırma Sonuçları ve Tartışma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6/9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43A530E-1F21-4A7F-CD19-7FBE4744A0BD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1600" b="1" dirty="0">
                <a:solidFill>
                  <a:srgbClr val="00234A"/>
                </a:solidFill>
                <a:latin typeface="Bookman Old Style"/>
                <a:ea typeface="Cambria" panose="02040503050406030204" pitchFamily="18" charset="0"/>
              </a:rPr>
              <a:t>İlayda BALAL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1212D68-8BB0-5873-CEB3-783DB1B5C5FB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9B75BF3-B158-9D75-1441-C070984CD0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  <p:sp>
        <p:nvSpPr>
          <p:cNvPr id="13" name="İçerik Yer Tutucusu 2">
            <a:extLst>
              <a:ext uri="{FF2B5EF4-FFF2-40B4-BE49-F238E27FC236}">
                <a16:creationId xmlns:a16="http://schemas.microsoft.com/office/drawing/2014/main" id="{A3D8BA94-11D3-3F2C-2543-5D1B0C777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61" y="1514168"/>
            <a:ext cx="5429975" cy="481491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Genel Başarı: %54.2 mAP@0.5 skoru.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Sınıf Bazlı Öne Çıkanlar: İmplant (%95), Gömülü Diş (%91), Kuron (%82) F1 skorları.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tr-TR" sz="2200" dirty="0">
                <a:solidFill>
                  <a:schemeClr val="bg1"/>
                </a:solidFill>
                <a:effectLst/>
              </a:rPr>
              <a:t>Klinik Çıktı: Milisaniyeler içinde teşhis ve triyaj (Takip/Rutin) imkanı.</a:t>
            </a:r>
          </a:p>
        </p:txBody>
      </p:sp>
      <p:pic>
        <p:nvPicPr>
          <p:cNvPr id="8" name="Resim 7" descr="metin, diyagram, çizgi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D908B09-C228-81F4-D25C-0E73FB2161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552" y="1485091"/>
            <a:ext cx="5399405" cy="35998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691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1D8D6-6D44-4D0C-F832-3736A972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A7BFF54-C4DB-B7FD-F5C8-77235598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Araştırma Sonuçları ve Tartışma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E71088-CFB9-DB32-57AA-DFD3B2EC3005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6/9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4F2D771-8CBD-3F35-F8DC-39EF9A18F64B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1600" b="1" dirty="0">
                <a:solidFill>
                  <a:srgbClr val="00234A"/>
                </a:solidFill>
                <a:latin typeface="Bookman Old Style"/>
                <a:ea typeface="Cambria" panose="02040503050406030204" pitchFamily="18" charset="0"/>
              </a:rPr>
              <a:t>İlayda BALAL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60B70D9-3717-494C-EB0F-F84305B9328D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A49AF7F-2C87-6AFA-5494-442E0A56F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  <p:pic>
        <p:nvPicPr>
          <p:cNvPr id="10" name="Resim 9" descr="metin, ekran görüntüsü, diyagram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B4CA5A0-A335-11C0-F216-24D232B203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19" y="1489943"/>
            <a:ext cx="8262872" cy="48196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1188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</a:t>
            </a: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Sonuçlar ve Öneriler</a:t>
            </a:r>
            <a:endParaRPr lang="tr-TR" sz="3200" cap="none" dirty="0">
              <a:solidFill>
                <a:srgbClr val="00234A"/>
              </a:solidFill>
              <a:effectLst/>
              <a:ea typeface="Cambria" panose="020405030504060302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dirty="0">
                <a:effectLst/>
                <a:latin typeface="Bookman Old Style"/>
                <a:ea typeface="Cambria" panose="02040503050406030204" pitchFamily="18" charset="0"/>
              </a:rPr>
              <a:t>7</a:t>
            </a: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5046E61-169E-4C5A-4A00-18EADBF64B3E}"/>
              </a:ext>
            </a:extLst>
          </p:cNvPr>
          <p:cNvSpPr txBox="1"/>
          <p:nvPr/>
        </p:nvSpPr>
        <p:spPr>
          <a:xfrm>
            <a:off x="270588" y="1445856"/>
            <a:ext cx="11616611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endParaRPr lang="tr-TR" sz="2200" dirty="0">
              <a:solidFill>
                <a:schemeClr val="bg1"/>
              </a:solidFill>
            </a:endParaRPr>
          </a:p>
          <a:p>
            <a:pPr algn="just"/>
            <a:endParaRPr lang="tr-TR" sz="2000" dirty="0">
              <a:solidFill>
                <a:schemeClr val="bg1"/>
              </a:solidFill>
            </a:endParaRPr>
          </a:p>
          <a:p>
            <a:pPr algn="just"/>
            <a:endParaRPr lang="tr-TR" sz="2000" dirty="0">
              <a:solidFill>
                <a:schemeClr val="bg1"/>
              </a:solidFill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B00DC6B-B03F-89FD-B6E0-AAE84449EC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55" y="1514168"/>
            <a:ext cx="2917326" cy="2917326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8A8D60C2-4ED5-F947-718E-51332A817EF0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1600" b="1" dirty="0">
                <a:solidFill>
                  <a:srgbClr val="00234A"/>
                </a:solidFill>
                <a:latin typeface="Bookman Old Style"/>
                <a:ea typeface="Cambria" panose="02040503050406030204" pitchFamily="18" charset="0"/>
              </a:rPr>
              <a:t>İlayda BALAL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45BB3B8-6B32-4028-DBC7-3F5AB8BFE85D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3AC35147-9933-4858-76FA-EA8A5FE20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88" y="1454497"/>
            <a:ext cx="3148594" cy="481491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tr-TR" sz="2200" dirty="0">
                <a:solidFill>
                  <a:schemeClr val="bg1"/>
                </a:solidFill>
                <a:effectLst/>
              </a:rPr>
              <a:t>Sonuç: YOLOv11, dental patolojilerin tespitinde uzman düzeyinde doğruluk sergilemiştir.</a:t>
            </a:r>
          </a:p>
          <a:p>
            <a:pPr marL="0" indent="0" algn="just">
              <a:buNone/>
            </a:pPr>
            <a:r>
              <a:rPr lang="tr-TR" sz="2200" dirty="0">
                <a:solidFill>
                  <a:schemeClr val="bg1"/>
                </a:solidFill>
                <a:effectLst/>
              </a:rPr>
              <a:t>Gelecek Çalışmalar: Segmentasyon modellerinin (YOLOv11-seg) entegrasyonu ve mobil uygulama desteği.</a:t>
            </a:r>
          </a:p>
        </p:txBody>
      </p:sp>
      <p:pic>
        <p:nvPicPr>
          <p:cNvPr id="13" name="Resim 12" descr="metin, diyagram, harit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B25882D-E302-F433-5EBE-9E89F22F5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025" y="1562010"/>
            <a:ext cx="8044848" cy="438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95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2D9FC9E-DDC0-4E33-9647-460C165E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57"/>
            <a:ext cx="10726275" cy="1090790"/>
          </a:xfr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tr-TR" sz="3200" cap="none" dirty="0">
                <a:solidFill>
                  <a:srgbClr val="00234A"/>
                </a:solidFill>
                <a:effectLst/>
                <a:ea typeface="Cambria" panose="02040503050406030204" pitchFamily="18" charset="0"/>
              </a:rPr>
              <a:t> Kaynaklar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98630D-2FA4-4E17-AEB3-E2A2D65A3246}"/>
              </a:ext>
            </a:extLst>
          </p:cNvPr>
          <p:cNvSpPr txBox="1">
            <a:spLocks/>
          </p:cNvSpPr>
          <p:nvPr/>
        </p:nvSpPr>
        <p:spPr>
          <a:xfrm>
            <a:off x="10784398" y="106257"/>
            <a:ext cx="1407601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8/9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375C141-A818-7D94-8B7D-6C80827364CB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İlayda BALAL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A36E76FC-A64E-F10C-2BFA-88BBC8BC2C8D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865B8F-7AEC-79BA-4E55-BD40F4ACC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88" y="1454497"/>
            <a:ext cx="11210212" cy="4814914"/>
          </a:xfrm>
        </p:spPr>
        <p:txBody>
          <a:bodyPr>
            <a:noAutofit/>
          </a:bodyPr>
          <a:lstStyle/>
          <a:p>
            <a:pPr algn="just"/>
            <a:r>
              <a:rPr lang="tr-TR" sz="1600" dirty="0">
                <a:solidFill>
                  <a:schemeClr val="bg1"/>
                </a:solidFill>
                <a:effectLst/>
              </a:rPr>
              <a:t>Çelik, B., Genç, M. Z., &amp; Çelik, M. E. (2024). Panoramik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Radyograflarda</a:t>
            </a:r>
            <a:r>
              <a:rPr lang="tr-TR" sz="1600" dirty="0">
                <a:solidFill>
                  <a:schemeClr val="bg1"/>
                </a:solidFill>
                <a:effectLst/>
              </a:rPr>
              <a:t> Diş Tiplerinin Sınıflandırılması için Derin Öğrenme Yöntemlerinin Karşılaştırılması. EMO Bilimsel Dergi, 14(1), 87-95.</a:t>
            </a:r>
          </a:p>
          <a:p>
            <a:pPr algn="just"/>
            <a:r>
              <a:rPr lang="tr-TR" sz="1600" dirty="0">
                <a:solidFill>
                  <a:schemeClr val="bg1"/>
                </a:solidFill>
                <a:effectLst/>
              </a:rPr>
              <a:t>Çelik, Ö., Odabaş, A.,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Bayrakdar</a:t>
            </a:r>
            <a:r>
              <a:rPr lang="tr-TR" sz="1600" dirty="0">
                <a:solidFill>
                  <a:schemeClr val="bg1"/>
                </a:solidFill>
                <a:effectLst/>
              </a:rPr>
              <a:t>, İ. Ş.,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Bilgir</a:t>
            </a:r>
            <a:r>
              <a:rPr lang="tr-TR" sz="1600" dirty="0">
                <a:solidFill>
                  <a:schemeClr val="bg1"/>
                </a:solidFill>
                <a:effectLst/>
              </a:rPr>
              <a:t>, E., &amp; Akkoca, F. (2019). Derin öğrenme yöntemi ile panoramik radyografiden diş eksikliklerinin tespiti: Bir yapay zekâ pilot çalışması.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Selcuk</a:t>
            </a:r>
            <a:r>
              <a:rPr lang="tr-TR" sz="1600" dirty="0">
                <a:solidFill>
                  <a:schemeClr val="bg1"/>
                </a:solidFill>
                <a:effectLst/>
              </a:rPr>
              <a:t> Dental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Journal</a:t>
            </a:r>
            <a:r>
              <a:rPr lang="tr-TR" sz="1600" dirty="0">
                <a:solidFill>
                  <a:schemeClr val="bg1"/>
                </a:solidFill>
                <a:effectLst/>
              </a:rPr>
              <a:t>, ODMFR 2019 Kongre Kitapçığı Özel Sayısı, 168-172.</a:t>
            </a:r>
          </a:p>
          <a:p>
            <a:pPr algn="just"/>
            <a:r>
              <a:rPr lang="tr-TR" sz="1600" dirty="0">
                <a:solidFill>
                  <a:schemeClr val="bg1"/>
                </a:solidFill>
                <a:effectLst/>
              </a:rPr>
              <a:t>Durmuş, M., Ergen, B., Çelebi, A., &amp; Türkoğlu, M. (2023). Panoramik Diş Görüntülerinde Derin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Evrişimsel</a:t>
            </a:r>
            <a:r>
              <a:rPr lang="tr-TR" sz="1600" dirty="0">
                <a:solidFill>
                  <a:schemeClr val="bg1"/>
                </a:solidFill>
                <a:effectLst/>
              </a:rPr>
              <a:t> Sinir Ağına Dayalı Gömülü Diş Tespiti ve Segmentasyonu. Çukurova Üniversitesi Mühendislik Fakültesi Dergisi, 38(3), 713-724.</a:t>
            </a:r>
          </a:p>
          <a:p>
            <a:pPr algn="just"/>
            <a:r>
              <a:rPr lang="tr-TR" sz="1600" dirty="0" err="1">
                <a:solidFill>
                  <a:schemeClr val="bg1"/>
                </a:solidFill>
                <a:effectLst/>
              </a:rPr>
              <a:t>Roboflow</a:t>
            </a:r>
            <a:r>
              <a:rPr lang="tr-TR" sz="1600" dirty="0">
                <a:solidFill>
                  <a:schemeClr val="bg1"/>
                </a:solidFill>
                <a:effectLst/>
              </a:rPr>
              <a:t>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Universe</a:t>
            </a:r>
            <a:r>
              <a:rPr lang="tr-TR" sz="1600" dirty="0">
                <a:solidFill>
                  <a:schemeClr val="bg1"/>
                </a:solidFill>
                <a:effectLst/>
              </a:rPr>
              <a:t>. (2024). Dental X-Ray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Panoramic</a:t>
            </a:r>
            <a:r>
              <a:rPr lang="tr-TR" sz="1600" dirty="0">
                <a:solidFill>
                  <a:schemeClr val="bg1"/>
                </a:solidFill>
                <a:effectLst/>
              </a:rPr>
              <a:t>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Dataset</a:t>
            </a:r>
            <a:r>
              <a:rPr lang="tr-TR" sz="1600" dirty="0">
                <a:solidFill>
                  <a:schemeClr val="bg1"/>
                </a:solidFill>
                <a:effectLst/>
              </a:rPr>
              <a:t>. Erişim Adresi: https://universe.roboflow.com/celldetection-ok5sm/dental-x-ray-panoramic-dataset/dataset/2.</a:t>
            </a:r>
          </a:p>
          <a:p>
            <a:pPr algn="just"/>
            <a:r>
              <a:rPr lang="tr-TR" sz="1600" dirty="0" err="1">
                <a:solidFill>
                  <a:schemeClr val="bg1"/>
                </a:solidFill>
                <a:effectLst/>
              </a:rPr>
              <a:t>Ultralytics</a:t>
            </a:r>
            <a:r>
              <a:rPr lang="tr-TR" sz="1600" dirty="0">
                <a:solidFill>
                  <a:schemeClr val="bg1"/>
                </a:solidFill>
                <a:effectLst/>
              </a:rPr>
              <a:t>. (2024). YOLOv11: Real-Time Object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Detection</a:t>
            </a:r>
            <a:r>
              <a:rPr lang="tr-TR" sz="1600" dirty="0">
                <a:solidFill>
                  <a:schemeClr val="bg1"/>
                </a:solidFill>
                <a:effectLst/>
              </a:rPr>
              <a:t>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and</a:t>
            </a:r>
            <a:r>
              <a:rPr lang="tr-TR" sz="1600" dirty="0">
                <a:solidFill>
                  <a:schemeClr val="bg1"/>
                </a:solidFill>
                <a:effectLst/>
              </a:rPr>
              <a:t> Image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Segmentation</a:t>
            </a:r>
            <a:r>
              <a:rPr lang="tr-TR" sz="1600" dirty="0">
                <a:solidFill>
                  <a:schemeClr val="bg1"/>
                </a:solidFill>
                <a:effectLst/>
              </a:rPr>
              <a:t> Model. Erişim Adresi: https://github.com/ultralytics/ultralytics.</a:t>
            </a:r>
          </a:p>
          <a:p>
            <a:pPr algn="just"/>
            <a:r>
              <a:rPr lang="tr-TR" sz="1600" dirty="0">
                <a:solidFill>
                  <a:schemeClr val="bg1"/>
                </a:solidFill>
                <a:effectLst/>
              </a:rPr>
              <a:t>Google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Colab</a:t>
            </a:r>
            <a:r>
              <a:rPr lang="tr-TR" sz="1600" dirty="0">
                <a:solidFill>
                  <a:schemeClr val="bg1"/>
                </a:solidFill>
                <a:effectLst/>
              </a:rPr>
              <a:t>. (2024). Interactive Computing 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for</a:t>
            </a:r>
            <a:r>
              <a:rPr lang="tr-TR" sz="1600" dirty="0">
                <a:solidFill>
                  <a:schemeClr val="bg1"/>
                </a:solidFill>
                <a:effectLst/>
              </a:rPr>
              <a:t> High-</a:t>
            </a:r>
            <a:r>
              <a:rPr lang="tr-TR" sz="1600" dirty="0" err="1">
                <a:solidFill>
                  <a:schemeClr val="bg1"/>
                </a:solidFill>
                <a:effectLst/>
              </a:rPr>
              <a:t>Performance</a:t>
            </a:r>
            <a:r>
              <a:rPr lang="tr-TR" sz="1600" dirty="0">
                <a:solidFill>
                  <a:schemeClr val="bg1"/>
                </a:solidFill>
                <a:effectLst/>
              </a:rPr>
              <a:t> Machine Learning. Erişim Adresi: https://colab.research.google.com/.</a:t>
            </a:r>
          </a:p>
        </p:txBody>
      </p:sp>
    </p:spTree>
    <p:extLst>
      <p:ext uri="{BB962C8B-B14F-4D97-AF65-F5344CB8AC3E}">
        <p14:creationId xmlns:p14="http://schemas.microsoft.com/office/powerpoint/2010/main" val="875793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Unvan 1">
            <a:extLst>
              <a:ext uri="{FF2B5EF4-FFF2-40B4-BE49-F238E27FC236}">
                <a16:creationId xmlns:a16="http://schemas.microsoft.com/office/drawing/2014/main" id="{DE78D9E8-ED44-4B4F-9A28-13C881D90B74}"/>
              </a:ext>
            </a:extLst>
          </p:cNvPr>
          <p:cNvSpPr txBox="1">
            <a:spLocks/>
          </p:cNvSpPr>
          <p:nvPr/>
        </p:nvSpPr>
        <p:spPr>
          <a:xfrm>
            <a:off x="0" y="2883605"/>
            <a:ext cx="10672688" cy="1090790"/>
          </a:xfrm>
          <a:prstGeom prst="rect">
            <a:avLst/>
          </a:prstGeom>
          <a:solidFill>
            <a:srgbClr val="FDCC14"/>
          </a:solidFill>
        </p:spPr>
        <p:txBody>
          <a:bodyPr vert="horz" lIns="91440" tIns="45720" rIns="91440" bIns="45720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200" b="1" i="0" cap="all">
                <a:solidFill>
                  <a:srgbClr val="000000"/>
                </a:solidFill>
                <a:effectLst/>
                <a:latin typeface="+mj-lt"/>
                <a:ea typeface="Cambria" panose="02040503050406030204" pitchFamily="18" charset="0"/>
                <a:cs typeface="+mj-cs"/>
              </a:defRPr>
            </a:lvl1pPr>
          </a:lstStyle>
          <a:p>
            <a:pPr algn="ctr"/>
            <a:r>
              <a:rPr lang="tr-TR" sz="4800" cap="none" dirty="0">
                <a:solidFill>
                  <a:srgbClr val="00234A"/>
                </a:solidFill>
              </a:rPr>
              <a:t>Teşekkürler…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92740A4-6F24-47E0-9954-01767207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5DBE44-9D14-4AC8-998C-BB2FCB24FC38}"/>
              </a:ext>
            </a:extLst>
          </p:cNvPr>
          <p:cNvSpPr txBox="1">
            <a:spLocks/>
          </p:cNvSpPr>
          <p:nvPr/>
        </p:nvSpPr>
        <p:spPr>
          <a:xfrm>
            <a:off x="10831053" y="2883605"/>
            <a:ext cx="1360946" cy="1090790"/>
          </a:xfrm>
          <a:prstGeom prst="rect">
            <a:avLst/>
          </a:prstGeom>
          <a:solidFill>
            <a:srgbClr val="00234A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z="28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j-cs"/>
              </a:rPr>
              <a:t>9/9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Bookman Old Style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A28BE6D-FEE6-3A34-760A-7437486E76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36" y="406777"/>
            <a:ext cx="1523826" cy="152382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8C132B1-46E1-6044-5877-13EB8ABE2207}"/>
              </a:ext>
            </a:extLst>
          </p:cNvPr>
          <p:cNvSpPr txBox="1">
            <a:spLocks/>
          </p:cNvSpPr>
          <p:nvPr/>
        </p:nvSpPr>
        <p:spPr>
          <a:xfrm>
            <a:off x="1895706" y="342127"/>
            <a:ext cx="7382763" cy="15170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6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T.C.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SELÇUK ÜNİVERSİTESİ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TEKNOLOJİ FAKÜLTESİ</a:t>
            </a:r>
          </a:p>
          <a:p>
            <a:pPr algn="ctr"/>
            <a:r>
              <a:rPr lang="tr-TR" sz="2400" b="1" dirty="0">
                <a:solidFill>
                  <a:srgbClr val="000000"/>
                </a:solidFill>
                <a:ea typeface="Cambria" panose="02040503050406030204" pitchFamily="18" charset="0"/>
              </a:rPr>
              <a:t>BİLGİSAYAR MÜHENDİSLİĞİ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65518C8-C439-6EE5-5AA7-2208168FB8E4}"/>
              </a:ext>
            </a:extLst>
          </p:cNvPr>
          <p:cNvSpPr txBox="1"/>
          <p:nvPr/>
        </p:nvSpPr>
        <p:spPr>
          <a:xfrm>
            <a:off x="0" y="6519446"/>
            <a:ext cx="12191999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  <a:cs typeface="+mn-cs"/>
              </a:rPr>
              <a:t>İlayda BALAL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2548565-5F30-9B9A-3BB7-0A054927B0F2}"/>
              </a:ext>
            </a:extLst>
          </p:cNvPr>
          <p:cNvSpPr txBox="1"/>
          <p:nvPr/>
        </p:nvSpPr>
        <p:spPr>
          <a:xfrm>
            <a:off x="9314400" y="6527256"/>
            <a:ext cx="2830945" cy="338554"/>
          </a:xfrm>
          <a:prstGeom prst="rect">
            <a:avLst/>
          </a:prstGeom>
          <a:solidFill>
            <a:srgbClr val="FDCC14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34A"/>
                </a:solidFill>
                <a:effectLst/>
                <a:uLnTx/>
                <a:uFillTx/>
                <a:latin typeface="Bookman Old Style"/>
                <a:ea typeface="Cambria" panose="02040503050406030204" pitchFamily="18" charset="0"/>
              </a:rPr>
              <a:t>BMU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00234A"/>
              </a:solidFill>
              <a:effectLst/>
              <a:uLnTx/>
              <a:uFillTx/>
              <a:latin typeface="Bookman Old Style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2" name="Resim 8">
            <a:extLst>
              <a:ext uri="{FF2B5EF4-FFF2-40B4-BE49-F238E27FC236}">
                <a16:creationId xmlns:a16="http://schemas.microsoft.com/office/drawing/2014/main" id="{F74CCDC6-FF4B-3866-CA30-BC057891D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589020"/>
            <a:ext cx="3392062" cy="121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02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Özel 3">
      <a:majorFont>
        <a:latin typeface="Bookman Old Style"/>
        <a:ea typeface=""/>
        <a:cs typeface=""/>
      </a:majorFont>
      <a:minorFont>
        <a:latin typeface="Rockwell"/>
        <a:ea typeface="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amask">
    <a:dk1>
      <a:sysClr val="windowText" lastClr="000000"/>
    </a:dk1>
    <a:lt1>
      <a:sysClr val="window" lastClr="FFFFFF"/>
    </a:lt1>
    <a:dk2>
      <a:srgbClr val="2A5B7F"/>
    </a:dk2>
    <a:lt2>
      <a:srgbClr val="ABDAFC"/>
    </a:lt2>
    <a:accent1>
      <a:srgbClr val="9EC544"/>
    </a:accent1>
    <a:accent2>
      <a:srgbClr val="50BEA3"/>
    </a:accent2>
    <a:accent3>
      <a:srgbClr val="4A9CCC"/>
    </a:accent3>
    <a:accent4>
      <a:srgbClr val="9A66CA"/>
    </a:accent4>
    <a:accent5>
      <a:srgbClr val="C54F71"/>
    </a:accent5>
    <a:accent6>
      <a:srgbClr val="DE9C3C"/>
    </a:accent6>
    <a:hlink>
      <a:srgbClr val="6BA9DA"/>
    </a:hlink>
    <a:folHlink>
      <a:srgbClr val="A0BCD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41639</TotalTime>
  <Words>557</Words>
  <Application>Microsoft Office PowerPoint</Application>
  <PresentationFormat>Geniş ekran</PresentationFormat>
  <Paragraphs>81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Cambria</vt:lpstr>
      <vt:lpstr>Rockwell</vt:lpstr>
      <vt:lpstr>Wingdings</vt:lpstr>
      <vt:lpstr>Damask</vt:lpstr>
      <vt:lpstr>PowerPoint Sunusu</vt:lpstr>
      <vt:lpstr> İçindekiler</vt:lpstr>
      <vt:lpstr> Giriş</vt:lpstr>
      <vt:lpstr> Giriş</vt:lpstr>
      <vt:lpstr>  Kaynak Araştırması</vt:lpstr>
      <vt:lpstr> Materyal ve Yöntem</vt:lpstr>
      <vt:lpstr> Araştırma Sonuçları ve Tartışma</vt:lpstr>
      <vt:lpstr> Araştırma Sonuçları ve Tartışma</vt:lpstr>
      <vt:lpstr> Sonuçlar ve Öneriler</vt:lpstr>
      <vt:lpstr> Kaynaklar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ilayda balal</cp:lastModifiedBy>
  <cp:revision>932</cp:revision>
  <dcterms:created xsi:type="dcterms:W3CDTF">2014-09-16T21:27:06Z</dcterms:created>
  <dcterms:modified xsi:type="dcterms:W3CDTF">2026-01-19T05:31:05Z</dcterms:modified>
</cp:coreProperties>
</file>